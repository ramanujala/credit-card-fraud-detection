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6400">
                <a:solidFill>
                  <a:srgbClr val="EF4444"/>
                </a:solidFill>
                <a:latin typeface="Arial"/>
              </a:defRPr>
            </a:pPr>
            <a:r>
              <a:t>FraudShield Pro</a:t>
            </a:r>
          </a:p>
          <a:p>
            <a:pPr>
              <a:spcBef>
                <a:spcPts val="1000"/>
              </a:spcBef>
              <a:defRPr sz="2800">
                <a:solidFill>
                  <a:srgbClr val="FFFFFF"/>
                </a:solidFill>
                <a:latin typeface="Arial"/>
              </a:defRPr>
            </a:pPr>
            <a:r>
              <a:t>Explainable AI (XAI) Credit Card Fraud Detection Dashboard</a:t>
            </a:r>
          </a:p>
          <a:p>
            <a:pPr>
              <a:spcBef>
                <a:spcPts val="2000"/>
              </a:spcBef>
              <a:defRPr sz="1600">
                <a:solidFill>
                  <a:srgbClr val="CBD5E1"/>
                </a:solidFill>
                <a:latin typeface="Arial"/>
              </a:defRPr>
            </a:pPr>
            <a:r>
              <a:t>Combining Random Forest Machine Learning &amp; Google Gemini Explanations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Arial"/>
              </a:defRPr>
            </a:pPr>
            <a:r>
              <a:t>The Credit Card Fraud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200">
                <a:solidFill>
                  <a:srgbClr val="EF4444"/>
                </a:solidFill>
                <a:latin typeface="Arial"/>
              </a:defRPr>
            </a:pPr>
            <a:r>
              <a:t>• Extreme Class Skew:</a:t>
            </a:r>
          </a:p>
          <a:p>
            <a:pPr>
              <a:spcAft>
                <a:spcPts val="1200"/>
              </a:spcAft>
              <a:defRPr b="0" sz="1800">
                <a:solidFill>
                  <a:srgbClr val="CBD5E1"/>
                </a:solidFill>
                <a:latin typeface="Arial"/>
              </a:defRPr>
            </a:pPr>
            <a:r>
              <a:t>  Legitimate transactions outnumber fraud 99.83% to 0.17% (only 492 fraud cases in 284,807 rows). Traditional classifiers fail by overfitting on the majority class.</a:t>
            </a:r>
          </a:p>
          <a:p>
            <a:pPr>
              <a:spcAft>
                <a:spcPts val="1200"/>
              </a:spcAft>
              <a:defRPr b="1" sz="2200">
                <a:solidFill>
                  <a:srgbClr val="8B5CF6"/>
                </a:solidFill>
                <a:latin typeface="Arial"/>
              </a:defRPr>
            </a:pPr>
            <a:r>
              <a:t>• The Explanation Gap:</a:t>
            </a:r>
          </a:p>
          <a:p>
            <a:pPr>
              <a:spcAft>
                <a:spcPts val="1200"/>
              </a:spcAft>
              <a:defRPr b="0" sz="1800">
                <a:solidFill>
                  <a:srgbClr val="CBD5E1"/>
                </a:solidFill>
                <a:latin typeface="Arial"/>
              </a:defRPr>
            </a:pPr>
            <a:r>
              <a:t>  Machine learning classifiers produce high-quality risk probabilities, but analysts cannot decipher PCA features (V1 to V28) to explain *why* a specific card is flagged.</a:t>
            </a:r>
          </a:p>
          <a:p>
            <a:pPr>
              <a:spcAft>
                <a:spcPts val="1200"/>
              </a:spcAft>
              <a:defRPr b="1" sz="2200">
                <a:solidFill>
                  <a:srgbClr val="FFFFFF"/>
                </a:solidFill>
                <a:latin typeface="Arial"/>
              </a:defRPr>
            </a:pPr>
            <a:r>
              <a:t>• Business Impact:</a:t>
            </a:r>
          </a:p>
          <a:p>
            <a:pPr>
              <a:spcAft>
                <a:spcPts val="1200"/>
              </a:spcAft>
              <a:defRPr b="0" sz="1800">
                <a:solidFill>
                  <a:srgbClr val="CBD5E1"/>
                </a:solidFill>
                <a:latin typeface="Arial"/>
              </a:defRPr>
            </a:pPr>
            <a:r>
              <a:t>  Ineffective fraud response leads to high financial loss, while false positives damage customer relations and operational costs.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Arial"/>
              </a:defRPr>
            </a:pPr>
            <a:r>
              <a:t>FraudShield Pro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400">
                <a:solidFill>
                  <a:srgbClr val="8B5CF6"/>
                </a:solidFill>
                <a:latin typeface="Arial"/>
              </a:defRPr>
            </a:pPr>
            <a:r>
              <a:t>• Double-Layer Risk Intelligence System</a:t>
            </a:r>
          </a:p>
          <a:p>
            <a:pPr>
              <a:spcAft>
                <a:spcPts val="1200"/>
              </a:spcAft>
              <a:defRPr b="1" sz="2000">
                <a:solidFill>
                  <a:srgbClr val="FFFFFF"/>
                </a:solidFill>
                <a:latin typeface="Arial"/>
              </a:defRPr>
            </a:pPr>
            <a:r>
              <a:t>1. Predictive Machine Learning Layer:</a:t>
            </a:r>
          </a:p>
          <a:p>
            <a:pPr lvl="1">
              <a:spcAft>
                <a:spcPts val="1200"/>
              </a:spcAft>
              <a:defRPr b="0" sz="1800">
                <a:solidFill>
                  <a:srgbClr val="CBD5E1"/>
                </a:solidFill>
                <a:latin typeface="Arial"/>
              </a:defRPr>
            </a:pPr>
            <a:r>
              <a:t>   Standardizes V-features, Time, and Amount to flag high-risk accounts using a Random Forest Classifier.</a:t>
            </a:r>
          </a:p>
          <a:p>
            <a:pPr>
              <a:spcAft>
                <a:spcPts val="1200"/>
              </a:spcAft>
              <a:defRPr b="1" sz="2000">
                <a:solidFill>
                  <a:srgbClr val="FFFFFF"/>
                </a:solidFill>
                <a:latin typeface="Arial"/>
              </a:defRPr>
            </a:pPr>
            <a:r>
              <a:t>2. Statistical Outlier Analyzer:</a:t>
            </a:r>
          </a:p>
          <a:p>
            <a:pPr lvl="1">
              <a:spcAft>
                <a:spcPts val="1200"/>
              </a:spcAft>
              <a:defRPr b="0" sz="1800">
                <a:solidFill>
                  <a:srgbClr val="CBD5E1"/>
                </a:solidFill>
                <a:latin typeface="Arial"/>
              </a:defRPr>
            </a:pPr>
            <a:r>
              <a:t>   Calculates deviation Z-scores against legitimate spend averages to map anomalies.</a:t>
            </a:r>
          </a:p>
          <a:p>
            <a:pPr>
              <a:spcAft>
                <a:spcPts val="1200"/>
              </a:spcAft>
              <a:defRPr b="1" sz="2000">
                <a:solidFill>
                  <a:srgbClr val="FFFFFF"/>
                </a:solidFill>
                <a:latin typeface="Arial"/>
              </a:defRPr>
            </a:pPr>
            <a:r>
              <a:t>3. Generative Explanatory AI Layer (Gen AI):</a:t>
            </a:r>
          </a:p>
          <a:p>
            <a:pPr lvl="1">
              <a:spcAft>
                <a:spcPts val="1200"/>
              </a:spcAft>
              <a:defRPr b="0" sz="1800">
                <a:solidFill>
                  <a:srgbClr val="CBD5E1"/>
                </a:solidFill>
                <a:latin typeface="Arial"/>
              </a:defRPr>
            </a:pPr>
            <a:r>
              <a:t>   Feeds anomalies to Google Gemini to write cohesive, plain-language risk assessment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Arial"/>
              </a:defRPr>
            </a:pPr>
            <a:r>
              <a:t>Model Preprocessing &amp; Balanced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200">
                <a:solidFill>
                  <a:srgbClr val="8B5CF6"/>
                </a:solidFill>
                <a:latin typeface="Arial"/>
              </a:defRPr>
            </a:pPr>
            <a:r>
              <a:t>• Balancing Strategy:</a:t>
            </a:r>
          </a:p>
          <a:p>
            <a:pPr>
              <a:spcAft>
                <a:spcPts val="1200"/>
              </a:spcAft>
              <a:defRPr b="0" sz="1800">
                <a:solidFill>
                  <a:srgbClr val="CBD5E1"/>
                </a:solidFill>
                <a:latin typeface="Arial"/>
              </a:defRPr>
            </a:pPr>
            <a:r>
              <a:t>  We isolate all 392 training fraud rows, and downsample legitimate training cases to 10,000 to construct a balanced training base. This reduces bias and accelerates learning.</a:t>
            </a:r>
          </a:p>
          <a:p>
            <a:pPr>
              <a:spcAft>
                <a:spcPts val="1200"/>
              </a:spcAft>
              <a:defRPr b="1" sz="2200">
                <a:solidFill>
                  <a:srgbClr val="FFFFFF"/>
                </a:solidFill>
                <a:latin typeface="Arial"/>
              </a:defRPr>
            </a:pPr>
            <a:r>
              <a:t>• Feature Scaling:</a:t>
            </a:r>
          </a:p>
          <a:p>
            <a:pPr>
              <a:spcAft>
                <a:spcPts val="1200"/>
              </a:spcAft>
              <a:defRPr b="0" sz="1800">
                <a:solidFill>
                  <a:srgbClr val="CBD5E1"/>
                </a:solidFill>
                <a:latin typeface="Arial"/>
              </a:defRPr>
            </a:pPr>
            <a:r>
              <a:t>   StandardScaler normalizes Time and Amount metrics to matching variance levels alongside PCA components, avoiding numeric dominance.</a:t>
            </a:r>
          </a:p>
          <a:p>
            <a:pPr>
              <a:spcAft>
                <a:spcPts val="1200"/>
              </a:spcAft>
              <a:defRPr b="1" sz="2200">
                <a:solidFill>
                  <a:srgbClr val="10B981"/>
                </a:solidFill>
                <a:latin typeface="Arial"/>
              </a:defRPr>
            </a:pPr>
            <a:r>
              <a:t>• Rigorous Evaluation Partition:</a:t>
            </a:r>
          </a:p>
          <a:p>
            <a:pPr>
              <a:spcAft>
                <a:spcPts val="1200"/>
              </a:spcAft>
              <a:defRPr b="0" sz="1800">
                <a:solidFill>
                  <a:srgbClr val="CBD5E1"/>
                </a:solidFill>
                <a:latin typeface="Arial"/>
              </a:defRPr>
            </a:pPr>
            <a:r>
              <a:t>  Tested against 50,000 legitimate and 100 fraudulent transactions to capture realistic imbalance performance rather than artificial metrics.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Arial"/>
              </a:defRPr>
            </a:pPr>
            <a:r>
              <a:t>Classifier Results &amp;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400">
                <a:solidFill>
                  <a:srgbClr val="FFFFFF"/>
                </a:solidFill>
                <a:latin typeface="Arial"/>
              </a:defRPr>
            </a:pPr>
            <a:r>
              <a:t>• Evaluation Metrics (Severe Imbalance Test Set):</a:t>
            </a:r>
          </a:p>
          <a:p>
            <a:pPr>
              <a:spcAft>
                <a:spcPts val="1200"/>
              </a:spcAft>
              <a:defRPr b="1" sz="2200">
                <a:solidFill>
                  <a:srgbClr val="10B981"/>
                </a:solidFill>
                <a:latin typeface="Arial"/>
              </a:defRPr>
            </a:pPr>
            <a:r>
              <a:t>  - Overall Accuracy: 99.92%</a:t>
            </a:r>
          </a:p>
          <a:p>
            <a:pPr>
              <a:spcAft>
                <a:spcPts val="1200"/>
              </a:spcAft>
              <a:defRPr b="1" sz="2200">
                <a:solidFill>
                  <a:srgbClr val="10B981"/>
                </a:solidFill>
                <a:latin typeface="Arial"/>
              </a:defRPr>
            </a:pPr>
            <a:r>
              <a:t>  - Fraud Recall (Detection Sensitivity): 83.00%</a:t>
            </a:r>
          </a:p>
          <a:p>
            <a:pPr lvl="1">
              <a:spcAft>
                <a:spcPts val="1200"/>
              </a:spcAft>
              <a:defRPr b="0" sz="1600">
                <a:solidFill>
                  <a:srgbClr val="CBD5E1"/>
                </a:solidFill>
                <a:latin typeface="Arial"/>
              </a:defRPr>
            </a:pPr>
            <a:r>
              <a:t>    (Model correctly catches 83 out of 100 actual fraudulent transactions)</a:t>
            </a:r>
          </a:p>
          <a:p>
            <a:pPr>
              <a:spcAft>
                <a:spcPts val="1200"/>
              </a:spcAft>
              <a:defRPr b="1" sz="2200">
                <a:solidFill>
                  <a:srgbClr val="10B981"/>
                </a:solidFill>
                <a:latin typeface="Arial"/>
              </a:defRPr>
            </a:pPr>
            <a:r>
              <a:t>  - Fraud Precision: 78.30%</a:t>
            </a:r>
          </a:p>
          <a:p>
            <a:pPr lvl="1">
              <a:spcAft>
                <a:spcPts val="1200"/>
              </a:spcAft>
              <a:defRPr b="0" sz="1600">
                <a:solidFill>
                  <a:srgbClr val="CBD5E1"/>
                </a:solidFill>
                <a:latin typeface="Arial"/>
              </a:defRPr>
            </a:pPr>
            <a:r>
              <a:t>    (Minimizes false alarms: 78.3% of flagged transactions are true positive fraud)</a:t>
            </a:r>
          </a:p>
          <a:p>
            <a:pPr>
              <a:spcAft>
                <a:spcPts val="1200"/>
              </a:spcAft>
              <a:defRPr b="1" sz="2200">
                <a:solidFill>
                  <a:srgbClr val="8B5CF6"/>
                </a:solidFill>
                <a:latin typeface="Arial"/>
              </a:defRPr>
            </a:pPr>
            <a:r>
              <a:t>  - Area Under ROC Curve (ROC-AUC): 0.9836</a:t>
            </a:r>
          </a:p>
          <a:p>
            <a:pPr lvl="1">
              <a:spcAft>
                <a:spcPts val="1200"/>
              </a:spcAft>
              <a:defRPr b="0" sz="1600">
                <a:solidFill>
                  <a:srgbClr val="CBD5E1"/>
                </a:solidFill>
                <a:latin typeface="Arial"/>
              </a:defRPr>
            </a:pPr>
            <a:r>
              <a:t>    (Indicates strong model discriminative power between legitimate and fraudulent classes)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Arial"/>
              </a:defRPr>
            </a:pPr>
            <a:r>
              <a:t>Real-Time Streamlit Front-End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200">
                <a:solidFill>
                  <a:srgbClr val="8B5CF6"/>
                </a:solidFill>
                <a:latin typeface="Arial"/>
              </a:defRPr>
            </a:pPr>
            <a:r>
              <a:t>• Premium Dark UI Design:</a:t>
            </a:r>
          </a:p>
          <a:p>
            <a:pPr>
              <a:spcAft>
                <a:spcPts val="1200"/>
              </a:spcAft>
              <a:defRPr b="0" sz="1800">
                <a:solidFill>
                  <a:srgbClr val="CBD5E1"/>
                </a:solidFill>
                <a:latin typeface="Arial"/>
              </a:defRPr>
            </a:pPr>
            <a:r>
              <a:t>  Uses customized Streamlit elements, responsive sidebars, custom card alerts, and Plotly visualizations.</a:t>
            </a:r>
          </a:p>
          <a:p>
            <a:pPr>
              <a:spcAft>
                <a:spcPts val="1200"/>
              </a:spcAft>
              <a:defRPr b="1" sz="2200">
                <a:solidFill>
                  <a:srgbClr val="FFFFFF"/>
                </a:solidFill>
                <a:latin typeface="Arial"/>
              </a:defRPr>
            </a:pPr>
            <a:r>
              <a:t>• Predictor Interface:</a:t>
            </a:r>
          </a:p>
          <a:p>
            <a:pPr>
              <a:spcAft>
                <a:spcPts val="1200"/>
              </a:spcAft>
              <a:defRPr b="0" sz="1800">
                <a:solidFill>
                  <a:srgbClr val="CBD5E1"/>
                </a:solidFill>
                <a:latin typeface="Arial"/>
              </a:defRPr>
            </a:pPr>
            <a:r>
              <a:t>  Allows picking transaction records from sample dropdowns or inputting values. Displays risk scoring in real-time.</a:t>
            </a:r>
          </a:p>
          <a:p>
            <a:pPr>
              <a:spcAft>
                <a:spcPts val="1200"/>
              </a:spcAft>
              <a:defRPr b="1" sz="2200">
                <a:solidFill>
                  <a:srgbClr val="FFFFFF"/>
                </a:solidFill>
                <a:latin typeface="Arial"/>
              </a:defRPr>
            </a:pPr>
            <a:r>
              <a:t>• Exploratory Data Analysis (EDA):</a:t>
            </a:r>
          </a:p>
          <a:p>
            <a:pPr>
              <a:spcAft>
                <a:spcPts val="1200"/>
              </a:spcAft>
              <a:defRPr b="0" sz="1800">
                <a:solidFill>
                  <a:srgbClr val="CBD5E1"/>
                </a:solidFill>
                <a:latin typeface="Arial"/>
              </a:defRPr>
            </a:pPr>
            <a:r>
              <a:t>  Renders interactive data distributions, correlation heatmap matrices, and PCA feature plots.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Arial"/>
              </a:defRPr>
            </a:pPr>
            <a:r>
              <a:t>AI Narrative Explanations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200">
                <a:solidFill>
                  <a:srgbClr val="EF4444"/>
                </a:solidFill>
                <a:latin typeface="Arial"/>
              </a:defRPr>
            </a:pPr>
            <a:r>
              <a:t>• Contextual Prompt Design:</a:t>
            </a:r>
          </a:p>
          <a:p>
            <a:pPr>
              <a:spcAft>
                <a:spcPts val="1200"/>
              </a:spcAft>
              <a:defRPr b="0" sz="1800">
                <a:solidFill>
                  <a:srgbClr val="CBD5E1"/>
                </a:solidFill>
                <a:latin typeface="Arial"/>
              </a:defRPr>
            </a:pPr>
            <a:r>
              <a:t>  Prompt maps statistical outlier attributes, amount, and time deviations to write a cohesive narrative.</a:t>
            </a:r>
          </a:p>
          <a:p>
            <a:pPr>
              <a:spcAft>
                <a:spcPts val="1200"/>
              </a:spcAft>
              <a:defRPr b="1" sz="2200">
                <a:solidFill>
                  <a:srgbClr val="FFFFFF"/>
                </a:solidFill>
                <a:latin typeface="Arial"/>
              </a:defRPr>
            </a:pPr>
            <a:r>
              <a:t>• Key Information Provided to Analyst:</a:t>
            </a:r>
          </a:p>
          <a:p>
            <a:pPr lvl="1">
              <a:spcAft>
                <a:spcPts val="1200"/>
              </a:spcAft>
              <a:defRPr b="1" sz="1800">
                <a:solidFill>
                  <a:srgbClr val="8B5CF6"/>
                </a:solidFill>
                <a:latin typeface="Arial"/>
              </a:defRPr>
            </a:pPr>
            <a:r>
              <a:t>  - Executive Risk Assessment Summary</a:t>
            </a:r>
          </a:p>
          <a:p>
            <a:pPr lvl="1">
              <a:spcAft>
                <a:spcPts val="1200"/>
              </a:spcAft>
              <a:defRPr b="1" sz="1800">
                <a:solidFill>
                  <a:srgbClr val="8B5CF6"/>
                </a:solidFill>
                <a:latin typeface="Arial"/>
              </a:defRPr>
            </a:pPr>
            <a:r>
              <a:t>  - Translation of PCA Component deviations (e.g. V17, V12) into business behaviors</a:t>
            </a:r>
          </a:p>
          <a:p>
            <a:pPr lvl="1">
              <a:spcAft>
                <a:spcPts val="1200"/>
              </a:spcAft>
              <a:defRPr b="1" sz="1800">
                <a:solidFill>
                  <a:srgbClr val="8B5CF6"/>
                </a:solidFill>
                <a:latin typeface="Arial"/>
              </a:defRPr>
            </a:pPr>
            <a:r>
              <a:t>  - Clear Action recommendations (Card freeze, Customer contact, Transaction rejection)</a:t>
            </a:r>
          </a:p>
          <a:p>
            <a:pPr>
              <a:spcAft>
                <a:spcPts val="1200"/>
              </a:spcAft>
              <a:defRPr b="1" sz="2200">
                <a:solidFill>
                  <a:srgbClr val="10B981"/>
                </a:solidFill>
                <a:latin typeface="Arial"/>
              </a:defRPr>
            </a:pPr>
            <a:r>
              <a:t>• Multi-SDK Fallback Strategy:</a:t>
            </a:r>
          </a:p>
          <a:p>
            <a:pPr>
              <a:spcAft>
                <a:spcPts val="1200"/>
              </a:spcAft>
              <a:defRPr b="0" sz="1800">
                <a:solidFill>
                  <a:srgbClr val="CBD5E1"/>
                </a:solidFill>
                <a:latin typeface="Arial"/>
              </a:defRPr>
            </a:pPr>
            <a:r>
              <a:t>  Ensures operation with both newer google-genai client and legacy google-generativeai packages.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